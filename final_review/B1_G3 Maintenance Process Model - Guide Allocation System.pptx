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7CE94176-25D0-4409-870C-7CBF1D1E704C}"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nSpc>
                <a:spcPct val="90000"/>
              </a:lnSpc>
              <a:spcBef>
                <a:spcPts val="1134"/>
              </a:spcBef>
              <a:buClr>
                <a:srgbClr val="000000"/>
              </a:buClr>
              <a:buSzPct val="75000"/>
              <a:buFont typeface="Symbol" charset="2"/>
              <a:buChar char=""/>
            </a:pPr>
            <a:r>
              <a:rPr lang="en-US" sz="2000" b="0" u="none" strike="noStrike">
                <a:solidFill>
                  <a:schemeClr val="dk1"/>
                </a:solidFill>
                <a:effectLst/>
                <a:uFillTx/>
                <a:latin typeface="Aptos"/>
              </a:rPr>
              <a:t>Second Outline Level</a:t>
            </a:r>
            <a:endParaRPr lang="en-US" sz="2000" b="0" u="none" strike="noStrike">
              <a:solidFill>
                <a:schemeClr val="dk1"/>
              </a:solidFill>
              <a:effectLst/>
              <a:uFillTx/>
              <a:latin typeface="Aptos"/>
            </a:endParaRPr>
          </a:p>
          <a:p>
            <a:pPr marL="1296000" lvl="2" indent="-288000">
              <a:lnSpc>
                <a:spcPct val="90000"/>
              </a:lnSpc>
              <a:spcBef>
                <a:spcPts val="850"/>
              </a:spcBef>
              <a:buClr>
                <a:srgbClr val="000000"/>
              </a:buClr>
              <a:buSzPct val="45000"/>
              <a:buFont typeface="Wingdings" charset="2"/>
              <a:buChar char=""/>
            </a:pPr>
            <a:r>
              <a:rPr lang="en-US" sz="1800" b="0" u="none" strike="noStrike">
                <a:solidFill>
                  <a:schemeClr val="dk1"/>
                </a:solidFill>
                <a:effectLst/>
                <a:uFillTx/>
                <a:latin typeface="Aptos"/>
              </a:rPr>
              <a:t>Third Outline Level</a:t>
            </a:r>
            <a:endParaRPr lang="en-US" sz="1800" b="0" u="none" strike="noStrike">
              <a:solidFill>
                <a:schemeClr val="dk1"/>
              </a:solidFill>
              <a:effectLst/>
              <a:uFillTx/>
              <a:latin typeface="Aptos"/>
            </a:endParaRPr>
          </a:p>
          <a:p>
            <a:pPr marL="1728000" lvl="3" indent="-216000">
              <a:lnSpc>
                <a:spcPct val="90000"/>
              </a:lnSpc>
              <a:spcBef>
                <a:spcPts val="567"/>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Fifth Outline Level</a:t>
            </a:r>
            <a:endParaRPr lang="en-US" sz="2000" b="0" u="none" strike="noStrike">
              <a:solidFill>
                <a:schemeClr val="dk1"/>
              </a:solidFill>
              <a:effectLst/>
              <a:uFillTx/>
              <a:latin typeface="Aptos"/>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F76C1139-AFCC-4E3E-A80D-9169AB31FA2C}"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3484E21A-74CA-41E3-8C95-F933E204F84F}"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302D2DA5-4F98-4BA5-8925-C3E2B36F3954}"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solidFill>
              <a:effectLst/>
              <a:uFillTx/>
              <a:latin typeface="Aptos"/>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2AE08D7C-0EB4-4338-A733-400CCFDB264F}"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16565820-FD36-4A63-B9F7-069C38D74E93}"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9A4B8E1F-BA21-4FB7-B086-B04C2DE95B6D}"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1C3ECA4A-1B8F-4324-BFFF-71AC74A1E5D7}"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64D0BA88-69F3-4D53-9CCB-8B7F16E3B921}"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48A540A8-4463-44D9-BC08-AC5EF8D6744E}"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a:endParaRPr>
          </a:p>
        </p:txBody>
      </p:sp>
      <p:sp>
        <p:nvSpPr>
          <p:cNvPr id="55"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marL="432000" indent="-324000">
              <a:lnSpc>
                <a:spcPct val="90000"/>
              </a:lnSpc>
              <a:spcBef>
                <a:spcPts val="1417"/>
              </a:spcBef>
              <a:buClr>
                <a:srgbClr val="000000"/>
              </a:buClr>
              <a:buSzPct val="45000"/>
              <a:buFont typeface="Wingdings" charset="2"/>
              <a:buChar char=""/>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864000" lvl="1" indent="-324000">
              <a:lnSpc>
                <a:spcPct val="90000"/>
              </a:lnSpc>
              <a:spcBef>
                <a:spcPts val="1134"/>
              </a:spcBef>
              <a:buClr>
                <a:srgbClr val="000000"/>
              </a:buClr>
              <a:buSzPct val="75000"/>
              <a:buFont typeface="Symbol" charset="2"/>
              <a:buChar char=""/>
            </a:pPr>
            <a:r>
              <a:rPr lang="en-US" sz="3200" b="0" u="none" strike="noStrike">
                <a:solidFill>
                  <a:schemeClr val="dk1"/>
                </a:solidFill>
                <a:effectLst/>
                <a:uFillTx/>
                <a:latin typeface="Aptos"/>
              </a:rPr>
              <a:t>Second Outline Level</a:t>
            </a:r>
            <a:endParaRPr lang="en-US" sz="3200" b="0" u="none" strike="noStrike">
              <a:solidFill>
                <a:schemeClr val="dk1"/>
              </a:solidFill>
              <a:effectLst/>
              <a:uFillTx/>
              <a:latin typeface="Aptos"/>
            </a:endParaRPr>
          </a:p>
          <a:p>
            <a:pPr marL="1296000" lvl="2" indent="-288000">
              <a:lnSpc>
                <a:spcPct val="90000"/>
              </a:lnSpc>
              <a:spcBef>
                <a:spcPts val="850"/>
              </a:spcBef>
              <a:buClr>
                <a:srgbClr val="000000"/>
              </a:buClr>
              <a:buSzPct val="45000"/>
              <a:buFont typeface="Wingdings" charset="2"/>
              <a:buChar char=""/>
            </a:pPr>
            <a:r>
              <a:rPr lang="en-US" sz="3200" b="0" u="none" strike="noStrike">
                <a:solidFill>
                  <a:schemeClr val="dk1"/>
                </a:solidFill>
                <a:effectLst/>
                <a:uFillTx/>
                <a:latin typeface="Aptos"/>
              </a:rPr>
              <a:t>Third Outline Level</a:t>
            </a:r>
            <a:endParaRPr lang="en-US" sz="3200" b="0" u="none" strike="noStrike">
              <a:solidFill>
                <a:schemeClr val="dk1"/>
              </a:solidFill>
              <a:effectLst/>
              <a:uFillTx/>
              <a:latin typeface="Aptos"/>
            </a:endParaRPr>
          </a:p>
          <a:p>
            <a:pPr marL="1728000" lvl="3" indent="-216000">
              <a:lnSpc>
                <a:spcPct val="90000"/>
              </a:lnSpc>
              <a:spcBef>
                <a:spcPts val="567"/>
              </a:spcBef>
              <a:buClr>
                <a:srgbClr val="000000"/>
              </a:buClr>
              <a:buSzPct val="75000"/>
              <a:buFont typeface="Symbol" charset="2"/>
              <a:buChar char=""/>
            </a:pPr>
            <a:r>
              <a:rPr lang="en-US" sz="3200" b="0" u="none" strike="noStrike">
                <a:solidFill>
                  <a:schemeClr val="dk1"/>
                </a:solidFill>
                <a:effectLst/>
                <a:uFillTx/>
                <a:latin typeface="Aptos"/>
              </a:rPr>
              <a:t>Fourth Outline Level</a:t>
            </a:r>
            <a:endParaRPr lang="en-US" sz="3200" b="0" u="none" strike="noStrike">
              <a:solidFill>
                <a:schemeClr val="dk1"/>
              </a:solidFill>
              <a:effectLst/>
              <a:uFillTx/>
              <a:latin typeface="Aptos"/>
            </a:endParaRPr>
          </a:p>
          <a:p>
            <a:pPr marL="2160000" lvl="4"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Fifth Outline Level</a:t>
            </a:r>
            <a:endParaRPr lang="en-US" sz="3200" b="0" u="none" strike="noStrike">
              <a:solidFill>
                <a:schemeClr val="dk1"/>
              </a:solidFill>
              <a:effectLst/>
              <a:uFillTx/>
              <a:latin typeface="Aptos"/>
            </a:endParaRPr>
          </a:p>
          <a:p>
            <a:pPr marL="2592000" lvl="5"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Sixth Outline Level</a:t>
            </a:r>
            <a:endParaRPr lang="en-US" sz="3200" b="0" u="none" strike="noStrike">
              <a:solidFill>
                <a:schemeClr val="dk1"/>
              </a:solidFill>
              <a:effectLst/>
              <a:uFillTx/>
              <a:latin typeface="Aptos"/>
            </a:endParaRPr>
          </a:p>
          <a:p>
            <a:pPr marL="3024000" lvl="6" indent="-216000">
              <a:lnSpc>
                <a:spcPct val="90000"/>
              </a:lnSpc>
              <a:spcBef>
                <a:spcPts val="283"/>
              </a:spcBef>
              <a:buClr>
                <a:srgbClr val="000000"/>
              </a:buClr>
              <a:buSzPct val="45000"/>
              <a:buFont typeface="Wingdings" charset="2"/>
              <a:buChar char=""/>
            </a:pPr>
            <a:r>
              <a:rPr lang="en-US" sz="3200" b="0" u="none" strike="noStrike">
                <a:solidFill>
                  <a:schemeClr val="dk1"/>
                </a:solidFill>
                <a:effectLst/>
                <a:uFillTx/>
                <a:latin typeface="Aptos"/>
              </a:rPr>
              <a:t>Seventh Outline Level</a:t>
            </a:r>
            <a:endParaRPr lang="en-US" sz="3200" b="0" u="none" strike="noStrike">
              <a:solidFill>
                <a:schemeClr val="dk1"/>
              </a:solidFill>
              <a:effectLst/>
              <a:uFillTx/>
              <a:latin typeface="Aptos"/>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914400">
              <a:lnSpc>
                <a:spcPct val="100000"/>
              </a:lnSpc>
              <a:buNone/>
              <a:defRPr lang="en-IN" sz="1200" b="0" u="none" strike="noStrike">
                <a:solidFill>
                  <a:schemeClr val="dk1">
                    <a:tint val="82000"/>
                  </a:schemeClr>
                </a:solidFill>
                <a:effectLst/>
                <a:uFillTx/>
                <a:latin typeface="Aptos"/>
              </a:defRPr>
            </a:lvl1pPr>
          </a:lstStyle>
          <a:p>
            <a:pPr indent="0" defTabSz="914400">
              <a:lnSpc>
                <a:spcPct val="100000"/>
              </a:lnSpc>
              <a:buNone/>
            </a:pPr>
            <a:r>
              <a:rPr lang="en-IN" sz="1200" b="0" u="none" strike="noStrike">
                <a:solidFill>
                  <a:schemeClr val="dk1">
                    <a:tint val="82000"/>
                  </a:schemeClr>
                </a:solidFill>
                <a:effectLst/>
                <a:uFillTx/>
                <a:latin typeface="Aptos"/>
              </a:rPr>
              <a:t>&lt;date/time&gt;</a:t>
            </a:r>
            <a:endParaRPr lang="en-US"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914400">
              <a:lnSpc>
                <a:spcPct val="100000"/>
              </a:lnSpc>
              <a:buNone/>
              <a:defRPr lang="en-IN" sz="1200" b="0" u="none" strike="noStrike">
                <a:solidFill>
                  <a:schemeClr val="dk1">
                    <a:tint val="82000"/>
                  </a:schemeClr>
                </a:solidFill>
                <a:effectLst/>
                <a:uFillTx/>
                <a:latin typeface="Aptos"/>
              </a:defRPr>
            </a:lvl1pPr>
          </a:lstStyle>
          <a:p>
            <a:pPr indent="0" algn="r" defTabSz="914400">
              <a:lnSpc>
                <a:spcPct val="100000"/>
              </a:lnSpc>
              <a:buNone/>
            </a:pPr>
            <a:fld id="{A78B7AEC-4621-41FE-BBFC-9A0E2EA37F47}" type="slidenum">
              <a:rPr lang="en-IN" sz="1200" b="0" u="none" strike="noStrike">
                <a:solidFill>
                  <a:schemeClr val="dk1">
                    <a:tint val="82000"/>
                  </a:schemeClr>
                </a:solidFill>
                <a:effectLst/>
                <a:uFillTx/>
                <a:latin typeface="Aptos"/>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title"/>
          </p:nvPr>
        </p:nvSpPr>
        <p:spPr>
          <a:xfrm>
            <a:off x="1523880" y="1122480"/>
            <a:ext cx="9143640" cy="1094760"/>
          </a:xfrm>
          <a:prstGeom prst="rect">
            <a:avLst/>
          </a:prstGeom>
          <a:noFill/>
          <a:ln w="0">
            <a:noFill/>
          </a:ln>
        </p:spPr>
        <p:txBody>
          <a:bodyPr lIns="91440" rIns="91440" tIns="45720" bIns="45720" anchor="b">
            <a:noAutofit/>
          </a:bodyPr>
          <a:p>
            <a:pPr indent="0" algn="ctr" defTabSz="914400">
              <a:lnSpc>
                <a:spcPct val="90000"/>
              </a:lnSpc>
              <a:buNone/>
            </a:pPr>
            <a:r>
              <a:rPr lang="en-US" sz="3600" b="1" u="none" strike="noStrike">
                <a:solidFill>
                  <a:srgbClr val="0d1b2a"/>
                </a:solidFill>
                <a:effectLst/>
                <a:uFillTx/>
                <a:latin typeface="Aptos Display"/>
              </a:rPr>
              <a:t>Guide Allocation System</a:t>
            </a:r>
            <a:endParaRPr lang="en-US" sz="3600" b="0" u="none" strike="noStrike">
              <a:solidFill>
                <a:schemeClr val="dk1"/>
              </a:solidFill>
              <a:effectLst/>
              <a:uFillTx/>
              <a:latin typeface="Aptos"/>
            </a:endParaRPr>
          </a:p>
          <a:p>
            <a:pPr indent="0" algn="ctr" defTabSz="914400">
              <a:lnSpc>
                <a:spcPct val="90000"/>
              </a:lnSpc>
              <a:buNone/>
            </a:pPr>
            <a:r>
              <a:rPr lang="en-US" sz="1600" b="0" u="none" strike="noStrike">
                <a:solidFill>
                  <a:srgbClr val="c9a84c"/>
                </a:solidFill>
                <a:effectLst/>
                <a:uFillTx/>
                <a:latin typeface="Aptos Display"/>
              </a:rPr>
              <a:t>RMMM Plan · Test Cases · Maintenance Process Model</a:t>
            </a:r>
            <a:endParaRPr lang="en-US" sz="1600" b="0" u="none" strike="noStrike">
              <a:solidFill>
                <a:schemeClr val="dk1"/>
              </a:solidFill>
              <a:effectLst/>
              <a:uFillTx/>
              <a:latin typeface="Aptos"/>
            </a:endParaRPr>
          </a:p>
        </p:txBody>
      </p:sp>
      <p:sp>
        <p:nvSpPr>
          <p:cNvPr id="61" name="PlaceHolder 2"/>
          <p:cNvSpPr>
            <a:spLocks noGrp="1"/>
          </p:cNvSpPr>
          <p:nvPr>
            <p:ph type="subTitle"/>
          </p:nvPr>
        </p:nvSpPr>
        <p:spPr>
          <a:xfrm>
            <a:off x="1523880" y="3602160"/>
            <a:ext cx="9143640" cy="1655280"/>
          </a:xfrm>
          <a:prstGeom prst="rect">
            <a:avLst/>
          </a:prstGeom>
          <a:noFill/>
          <a:ln w="0">
            <a:noFill/>
          </a:ln>
        </p:spPr>
        <p:txBody>
          <a:bodyPr lIns="91440" rIns="91440" tIns="45720" bIns="45720" anchor="t">
            <a:normAutofit/>
          </a:bodyPr>
          <a:p>
            <a:pPr indent="0" algn="ctr" defTabSz="914400">
              <a:lnSpc>
                <a:spcPct val="90000"/>
              </a:lnSpc>
              <a:spcBef>
                <a:spcPts val="1001"/>
              </a:spcBef>
              <a:buNone/>
              <a:tabLst>
                <a:tab algn="l" pos="0"/>
              </a:tabLst>
            </a:pPr>
            <a:r>
              <a:rPr lang="en-US" sz="1800" b="0" u="none" strike="noStrike">
                <a:solidFill>
                  <a:srgbClr val="606060"/>
                </a:solidFill>
                <a:effectLst/>
                <a:uFillTx/>
                <a:latin typeface="Aptos"/>
              </a:rPr>
              <a:t>Team Members: Kumar Tejash  |  Aryan Bisht  |  Rahul Negi</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lang="en-US" sz="2400" b="1" u="none" strike="noStrike">
                <a:solidFill>
                  <a:srgbClr val="0d1b2a"/>
                </a:solidFill>
                <a:effectLst/>
                <a:uFillTx/>
                <a:latin typeface="Aptos Display"/>
              </a:rPr>
              <a:t>Project Title: Guide Allocation System</a:t>
            </a:r>
            <a:endParaRPr lang="en-US" sz="2400" b="0" u="none" strike="noStrike">
              <a:solidFill>
                <a:schemeClr val="dk1"/>
              </a:solidFill>
              <a:effectLst/>
              <a:uFillTx/>
              <a:latin typeface="Aptos"/>
            </a:endParaRPr>
          </a:p>
        </p:txBody>
      </p:sp>
      <p:sp>
        <p:nvSpPr>
          <p:cNvPr id="63" name="PlaceHolder 2"/>
          <p:cNvSpPr>
            <a:spLocks noGrp="1"/>
          </p:cNvSpPr>
          <p:nvPr>
            <p:ph/>
          </p:nvPr>
        </p:nvSpPr>
        <p:spPr>
          <a:xfrm>
            <a:off x="838080" y="1825560"/>
            <a:ext cx="10515240" cy="4350960"/>
          </a:xfrm>
          <a:prstGeom prst="rect">
            <a:avLst/>
          </a:prstGeom>
          <a:noFill/>
          <a:ln w="0">
            <a:noFill/>
          </a:ln>
        </p:spPr>
        <p:txBody>
          <a:bodyPr lIns="91440" rIns="91440" tIns="45720" bIns="45720" anchor="t">
            <a:noAutofit/>
          </a:bodyPr>
          <a:p>
            <a:pPr marL="514440" indent="-514440" defTabSz="914400">
              <a:lnSpc>
                <a:spcPct val="90000"/>
              </a:lnSpc>
              <a:spcBef>
                <a:spcPts val="1001"/>
              </a:spcBef>
              <a:buClr>
                <a:srgbClr val="0d1b2a"/>
              </a:buClr>
              <a:buFont typeface="Aptos Display"/>
              <a:buAutoNum type="arabicPeriod"/>
            </a:pPr>
            <a:r>
              <a:rPr lang="en-US" sz="1600" b="1" u="none" strike="noStrike">
                <a:solidFill>
                  <a:srgbClr val="0d1b2a"/>
                </a:solidFill>
                <a:effectLst/>
                <a:uFillTx/>
                <a:latin typeface="Aptos"/>
              </a:rPr>
              <a:t>Chosen Maintenance Process Model:  </a:t>
            </a:r>
            <a:r>
              <a:rPr lang="en-US" sz="1600" b="1" u="none" strike="noStrike">
                <a:solidFill>
                  <a:srgbClr val="c9a84c"/>
                </a:solidFill>
                <a:effectLst/>
                <a:uFillTx/>
                <a:latin typeface="Aptos"/>
              </a:rPr>
              <a:t>Iterative Enhancement Model</a:t>
            </a:r>
            <a:endParaRPr lang="en-US" sz="1600" b="0" u="none" strike="noStrike">
              <a:solidFill>
                <a:schemeClr val="dk1"/>
              </a:solidFill>
              <a:effectLst/>
              <a:uFillTx/>
              <a:latin typeface="Aptos"/>
            </a:endParaRPr>
          </a:p>
          <a:p>
            <a:pPr indent="0" defTabSz="914400">
              <a:lnSpc>
                <a:spcPct val="90000"/>
              </a:lnSpc>
              <a:spcBef>
                <a:spcPts val="1001"/>
              </a:spcBef>
              <a:buNone/>
            </a:pPr>
            <a:endParaRPr lang="en-US" sz="2800" b="0" u="none" strike="noStrike">
              <a:solidFill>
                <a:schemeClr val="dk1"/>
              </a:solidFill>
              <a:effectLst/>
              <a:uFillTx/>
              <a:latin typeface="Aptos"/>
            </a:endParaRPr>
          </a:p>
          <a:p>
            <a:pPr marL="228600" indent="-228600" defTabSz="914400">
              <a:lnSpc>
                <a:spcPct val="90000"/>
              </a:lnSpc>
              <a:spcBef>
                <a:spcPts val="1001"/>
              </a:spcBef>
              <a:buClr>
                <a:srgbClr val="0d1b2a"/>
              </a:buClr>
              <a:buFont typeface="Arial"/>
              <a:buChar char="•"/>
            </a:pPr>
            <a:r>
              <a:rPr lang="en-US" sz="1400" b="1" u="none" strike="noStrike">
                <a:solidFill>
                  <a:srgbClr val="0d1b2a"/>
                </a:solidFill>
                <a:effectLst/>
                <a:uFillTx/>
                <a:latin typeface="Aptos"/>
              </a:rPr>
              <a:t>Justification:</a:t>
            </a:r>
            <a:endParaRPr lang="en-US" sz="1400" b="0" u="none" strike="noStrike">
              <a:solidFill>
                <a:schemeClr val="dk1"/>
              </a:solidFill>
              <a:effectLst/>
              <a:uFillTx/>
              <a:latin typeface="Aptos"/>
            </a:endParaRPr>
          </a:p>
          <a:p>
            <a:pPr marL="685800" lvl="1" indent="-228600" defTabSz="914400">
              <a:lnSpc>
                <a:spcPct val="90000"/>
              </a:lnSpc>
              <a:spcBef>
                <a:spcPts val="499"/>
              </a:spcBef>
              <a:buClr>
                <a:srgbClr val="0d1b2a"/>
              </a:buClr>
              <a:buFont typeface="Arial"/>
              <a:buChar char="•"/>
            </a:pPr>
            <a:r>
              <a:rPr lang="en-US" sz="1100" b="1" u="none" strike="noStrike">
                <a:solidFill>
                  <a:srgbClr val="0d1b2a"/>
                </a:solidFill>
                <a:effectLst/>
                <a:uFillTx/>
                <a:latin typeface="Aptos"/>
              </a:rPr>
              <a:t>Sprint-based development — </a:t>
            </a:r>
            <a:r>
              <a:rPr lang="en-US" sz="1100" b="0" u="none" strike="noStrike">
                <a:solidFill>
                  <a:srgbClr val="333333"/>
                </a:solidFill>
                <a:effectLst/>
                <a:uFillTx/>
                <a:latin typeface="Aptos"/>
              </a:rPr>
              <a:t>The project was built across three sprints, each adding an increment of functionality (auth → guide requests → admin + hardening). The Iterative Enhancement Model directly mirrors this workflow: each iteration delivers a working, testable increment.</a:t>
            </a:r>
            <a:endParaRPr lang="en-US" sz="1100" b="0" u="none" strike="noStrike">
              <a:solidFill>
                <a:schemeClr val="dk1"/>
              </a:solidFill>
              <a:effectLst/>
              <a:uFillTx/>
              <a:latin typeface="Aptos"/>
            </a:endParaRPr>
          </a:p>
          <a:p>
            <a:pPr marL="685800" lvl="1" indent="-228600" defTabSz="914400">
              <a:lnSpc>
                <a:spcPct val="90000"/>
              </a:lnSpc>
              <a:spcBef>
                <a:spcPts val="499"/>
              </a:spcBef>
              <a:buClr>
                <a:srgbClr val="0d1b2a"/>
              </a:buClr>
              <a:buFont typeface="Arial"/>
              <a:buChar char="•"/>
            </a:pPr>
            <a:r>
              <a:rPr lang="en-US" sz="1100" b="1" u="none" strike="noStrike">
                <a:solidFill>
                  <a:srgbClr val="0d1b2a"/>
                </a:solidFill>
                <a:effectLst/>
                <a:uFillTx/>
                <a:latin typeface="Aptos"/>
              </a:rPr>
              <a:t>Continuous refinement — </a:t>
            </a:r>
            <a:r>
              <a:rPr lang="en-US" sz="1100" b="0" u="none" strike="noStrike">
                <a:solidFill>
                  <a:srgbClr val="333333"/>
                </a:solidFill>
                <a:effectLst/>
                <a:uFillTx/>
                <a:latin typeface="Aptos"/>
              </a:rPr>
              <a:t>Bugs discovered during integration (array response handling in apiFetch, capacity counting logic, cascade delete on faculty removal) were fixed within the same sprint. The model's feedback loop between verification and next iteration accommodates this naturally.</a:t>
            </a:r>
            <a:endParaRPr lang="en-US" sz="1100" b="0" u="none" strike="noStrike">
              <a:solidFill>
                <a:schemeClr val="dk1"/>
              </a:solidFill>
              <a:effectLst/>
              <a:uFillTx/>
              <a:latin typeface="Aptos"/>
            </a:endParaRPr>
          </a:p>
          <a:p>
            <a:pPr marL="685800" lvl="1" indent="-228600" defTabSz="914400">
              <a:lnSpc>
                <a:spcPct val="90000"/>
              </a:lnSpc>
              <a:spcBef>
                <a:spcPts val="499"/>
              </a:spcBef>
              <a:buClr>
                <a:srgbClr val="0d1b2a"/>
              </a:buClr>
              <a:buFont typeface="Arial"/>
              <a:buChar char="•"/>
            </a:pPr>
            <a:r>
              <a:rPr lang="en-US" sz="1100" b="1" u="none" strike="noStrike">
                <a:solidFill>
                  <a:srgbClr val="0d1b2a"/>
                </a:solidFill>
                <a:effectLst/>
                <a:uFillTx/>
                <a:latin typeface="Aptos"/>
              </a:rPr>
              <a:t>Evolutionary requirements — </a:t>
            </a:r>
            <a:r>
              <a:rPr lang="en-US" sz="1100" b="0" u="none" strike="noStrike">
                <a:solidFill>
                  <a:srgbClr val="333333"/>
                </a:solidFill>
                <a:effectLst/>
                <a:uFillTx/>
                <a:latin typeface="Aptos"/>
              </a:rPr>
              <a:t>New requirements emerged during development (domain filter, faculty pending-state UX). The iterative model allows scope adjustments at iteration boundaries without disrupting the existing working system.</a:t>
            </a:r>
            <a:endParaRPr lang="en-US" sz="1100" b="0" u="none" strike="noStrike">
              <a:solidFill>
                <a:schemeClr val="dk1"/>
              </a:solidFill>
              <a:effectLst/>
              <a:uFillTx/>
              <a:latin typeface="Aptos"/>
            </a:endParaRPr>
          </a:p>
          <a:p>
            <a:pPr marL="685800" lvl="1" indent="-228600" defTabSz="914400">
              <a:lnSpc>
                <a:spcPct val="90000"/>
              </a:lnSpc>
              <a:spcBef>
                <a:spcPts val="499"/>
              </a:spcBef>
              <a:buClr>
                <a:srgbClr val="0d1b2a"/>
              </a:buClr>
              <a:buFont typeface="Arial"/>
              <a:buChar char="•"/>
            </a:pPr>
            <a:r>
              <a:rPr lang="en-US" sz="1100" b="1" u="none" strike="noStrike">
                <a:solidFill>
                  <a:srgbClr val="0d1b2a"/>
                </a:solidFill>
                <a:effectLst/>
                <a:uFillTx/>
                <a:latin typeface="Aptos"/>
              </a:rPr>
              <a:t>Low maintenance overhead — </a:t>
            </a:r>
            <a:r>
              <a:rPr lang="en-US" sz="1100" b="0" u="none" strike="noStrike">
                <a:solidFill>
                  <a:srgbClr val="333333"/>
                </a:solidFill>
                <a:effectLst/>
                <a:uFillTx/>
                <a:latin typeface="Aptos"/>
              </a:rPr>
              <a:t>The system uses a React + Express + SQLite stack with minimal external dependencies. Post-delivery maintenance (bug fixes, capacity tuning, security patches) fits the model's short, controlled iteration cycles with no major architectural overhaul.</a:t>
            </a:r>
            <a:endParaRPr lang="en-US" sz="11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10</TotalTime>
  <Application>LibreOffice/25.8.6.2$Linux_X86_64 LibreOffice_project/580$Build-2</Application>
  <AppVersion>15.0000</AppVersion>
  <Words>37</Words>
  <Paragraphs>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2026-04-10T13:27:40Z</dcterms:created>
  <dc:creator>Subash R 101616</dc:creator>
  <dc:description/>
  <dc:language>en-US</dc:language>
  <cp:lastModifiedBy/>
  <dcterms:modified xsi:type="dcterms:W3CDTF">2026-04-16T08:23:19Z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2</vt:i4>
  </property>
</Properties>
</file>